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D42727"/>
                </a:solidFill>
                <a:latin typeface="Arial"/>
                <a:ea typeface="Arial"/>
                <a:cs typeface="Arial"/>
              </a:rPr>
              <a:t>hicre design studio  —  2025.06.21 MTG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チームと一緒につくる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4028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評価と報酬の考え方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3063240"/>
            <a:ext cx="640080" cy="45720"/>
          </a:xfrm>
          <a:prstGeom prst="rect">
            <a:avLst/>
          </a:prstGeom>
          <a:solidFill>
            <a:srgbClr val="D42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数字だけでは測れない価値を大切に。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1188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メンバー全員が安心して目標を持ち、成長できる環境をつくる。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0916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999999"/>
                </a:solidFill>
                <a:latin typeface="Arial"/>
                <a:ea typeface="Arial"/>
                <a:cs typeface="Arial"/>
              </a:rPr>
              <a:t>hicre design studio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D42727"/>
                </a:solidFill>
                <a:latin typeface="Arial"/>
                <a:ea typeface="Arial"/>
                <a:cs typeface="Arial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8046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今日のアジェンダ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25296"/>
            <a:ext cx="457200" cy="41148"/>
          </a:xfrm>
          <a:prstGeom prst="rect">
            <a:avLst/>
          </a:prstGeom>
          <a:solidFill>
            <a:srgbClr val="D42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60" y="4864608"/>
            <a:ext cx="731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99999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3749039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64792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D42727"/>
                </a:solidFill>
                <a:latin typeface="Arial"/>
                <a:ea typeface="Arial"/>
                <a:cs typeface="Arial"/>
              </a:rPr>
              <a:t>Opening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057400"/>
            <a:ext cx="320040" cy="27432"/>
          </a:xfrm>
          <a:prstGeom prst="rect">
            <a:avLst/>
          </a:prstGeom>
          <a:solidFill>
            <a:srgbClr val="D42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67128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方針の共有（この資料の内容）／評価・報酬の考え方・ルール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63724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整備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600200"/>
            <a:ext cx="3749039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1764792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D42727"/>
                </a:solidFill>
                <a:latin typeface="Arial"/>
                <a:ea typeface="Arial"/>
                <a:cs typeface="Arial"/>
              </a:rPr>
              <a:t>Discussion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00600" y="2057400"/>
            <a:ext cx="320040" cy="27432"/>
          </a:xfrm>
          <a:prstGeom prst="rect">
            <a:avLst/>
          </a:prstGeom>
          <a:solidFill>
            <a:srgbClr val="D42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2167128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皆さんの意見・質問を聞かせてください。「こうしてほしい」「こ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363724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れはどうなる？」何でもOK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154680"/>
            <a:ext cx="3749039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319272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D42727"/>
                </a:solidFill>
                <a:latin typeface="Arial"/>
                <a:ea typeface="Arial"/>
                <a:cs typeface="Arial"/>
              </a:rPr>
              <a:t>Share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611880"/>
            <a:ext cx="320040" cy="27432"/>
          </a:xfrm>
          <a:prstGeom prst="rect">
            <a:avLst/>
          </a:prstGeom>
          <a:solidFill>
            <a:srgbClr val="D42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721608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成果指標を一緒に確認。各案件で確認できる数値を共有し、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918204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チームとして目標を持つ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3154680"/>
            <a:ext cx="3749039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0600" y="3319272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D42727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00600" y="3611880"/>
            <a:ext cx="320040" cy="27432"/>
          </a:xfrm>
          <a:prstGeom prst="rect">
            <a:avLst/>
          </a:prstGeom>
          <a:solidFill>
            <a:srgbClr val="D42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00600" y="3721608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次の3〜6ヶ月の方向性を決定。各メンバーの役割・目標・サポ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3918204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ート内容に合意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61772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今日は「決定の場」ではなく「対話の場」です。意見を出しながら、一緒に良いチームをつくりましょう。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D42727"/>
                </a:solidFill>
                <a:latin typeface="Arial"/>
                <a:ea typeface="Arial"/>
                <a:cs typeface="Arial"/>
              </a:rPr>
              <a:t>Opening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8046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まず、伝えたいこと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25296"/>
            <a:ext cx="457200" cy="41148"/>
          </a:xfrm>
          <a:prstGeom prst="rect">
            <a:avLst/>
          </a:prstGeom>
          <a:solidFill>
            <a:srgbClr val="D42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60" y="4864608"/>
            <a:ext cx="731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99999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79552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今日お話しする評価や報酬は、皆さんを「評価するため」ではなく、目標を持ち・成長し・安心して働ける環境のための指標です。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886200" cy="1371600"/>
          </a:xfrm>
          <a:prstGeom prst="rect">
            <a:avLst/>
          </a:prstGeom>
          <a:solidFill>
            <a:srgbClr val="FB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3474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D42727"/>
                </a:solidFill>
                <a:latin typeface="Arial"/>
                <a:ea typeface="Arial"/>
                <a:cs typeface="Arial"/>
              </a:rPr>
              <a:t>🤝  信頼・信用が土台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お客様に喜んでいただき、信頼を積み重ねること。それがチー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78608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ム全体の報酬改善にもつながります。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60" y="1828800"/>
            <a:ext cx="3886200" cy="1371600"/>
          </a:xfrm>
          <a:prstGeom prst="rect">
            <a:avLst/>
          </a:prstGeom>
          <a:solidFill>
            <a:srgbClr val="FB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2011680"/>
            <a:ext cx="3474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D42727"/>
                </a:solidFill>
                <a:latin typeface="Arial"/>
                <a:ea typeface="Arial"/>
                <a:cs typeface="Arial"/>
              </a:rPr>
              <a:t>🌱  成長を一緒に喜ぶ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37744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スキル・提案力・対応力が伸びた時、それはチームの力に。そ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578608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の成長を正当に評価したい。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429000"/>
            <a:ext cx="80467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611880"/>
            <a:ext cx="7589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「まずお客様に喜んでいただくこと。信頼を積み重ねること。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86200"/>
            <a:ext cx="7589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それが事業継続の根幹であり、チームへの還元の源です。」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D42727"/>
                </a:solidFill>
                <a:latin typeface="Arial"/>
                <a:ea typeface="Arial"/>
                <a:cs typeface="Arial"/>
              </a:rPr>
              <a:t>Current Situation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8046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今の状況を共有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25296"/>
            <a:ext cx="457200" cy="41148"/>
          </a:xfrm>
          <a:prstGeom prst="rect">
            <a:avLst/>
          </a:prstGeom>
          <a:solidFill>
            <a:srgbClr val="D42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60" y="4864608"/>
            <a:ext cx="731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99999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329184" cy="329184"/>
          </a:xfrm>
          <a:prstGeom prst="rect">
            <a:avLst/>
          </a:prstGeom>
          <a:solidFill>
            <a:srgbClr val="FB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32918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D427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572768"/>
            <a:ext cx="7772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体制が変化中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883664"/>
            <a:ext cx="7772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チーム構成・案件状況・個人スキルが毎月変化。今は「固定」より「柔軟」な設計が必要です。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06040"/>
            <a:ext cx="329184" cy="329184"/>
          </a:xfrm>
          <a:prstGeom prst="rect">
            <a:avLst/>
          </a:prstGeom>
          <a:solidFill>
            <a:srgbClr val="FB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606040"/>
            <a:ext cx="32918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D427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578608"/>
            <a:ext cx="7772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評価制度は未完成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889504"/>
            <a:ext cx="7772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完全に確定した制度はまだありません。正直に言うと、皆さんと一緒に作り上げる段階です。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11880"/>
            <a:ext cx="329184" cy="329184"/>
          </a:xfrm>
          <a:prstGeom prst="rect">
            <a:avLst/>
          </a:prstGeom>
          <a:solidFill>
            <a:srgbClr val="FB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611880"/>
            <a:ext cx="32918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D427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584448"/>
            <a:ext cx="7772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数値化の限界もある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895344"/>
            <a:ext cx="7772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クライアントごとに業種・規模・目的が異なり、同じ基準で全案件を測るのは難しいのが現実です。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526280"/>
            <a:ext cx="8046720" cy="411480"/>
          </a:xfrm>
          <a:prstGeom prst="rect">
            <a:avLst/>
          </a:prstGeom>
          <a:solidFill>
            <a:srgbClr val="FB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608576"/>
            <a:ext cx="7680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今日のゴール：方向性を共有 ／ 皆さんの意見・疑問を聞く ／ 6ヶ月ごとの見直しサイクルを決める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D42727"/>
                </a:solidFill>
                <a:latin typeface="Arial"/>
                <a:ea typeface="Arial"/>
                <a:cs typeface="Arial"/>
              </a:rPr>
              <a:t>Evaluation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8046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評価の5つの軸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25296"/>
            <a:ext cx="457200" cy="41148"/>
          </a:xfrm>
          <a:prstGeom prst="rect">
            <a:avLst/>
          </a:prstGeom>
          <a:solidFill>
            <a:srgbClr val="D42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60" y="4864608"/>
            <a:ext cx="731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99999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79552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定性・定量どちらも大切に。数字は参考情報であり、最終評価は総合的な対話で決めます。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310896" cy="310896"/>
          </a:xfrm>
          <a:prstGeom prst="rect">
            <a:avLst/>
          </a:prstGeom>
          <a:solidFill>
            <a:srgbClr val="FB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73936"/>
            <a:ext cx="31089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D427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1746504"/>
            <a:ext cx="7680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成果・数値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1975104"/>
            <a:ext cx="7680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インプレッション・問い合わせ等、確認できる指標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86584"/>
            <a:ext cx="310896" cy="310896"/>
          </a:xfrm>
          <a:prstGeom prst="rect">
            <a:avLst/>
          </a:prstGeom>
          <a:solidFill>
            <a:srgbClr val="FB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377440"/>
            <a:ext cx="31089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D427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350008"/>
            <a:ext cx="7680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品質・クオリティ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2578608"/>
            <a:ext cx="7680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デザインの質・正確さ・仕上がりの丁寧さ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990088"/>
            <a:ext cx="310896" cy="310896"/>
          </a:xfrm>
          <a:prstGeom prst="rect">
            <a:avLst/>
          </a:prstGeom>
          <a:solidFill>
            <a:srgbClr val="FB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980944"/>
            <a:ext cx="31089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D427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2953512"/>
            <a:ext cx="7680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提案・主体性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" y="3182112"/>
            <a:ext cx="7680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改善提案・自走力・対応できる業務の幅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593592"/>
            <a:ext cx="310896" cy="310896"/>
          </a:xfrm>
          <a:prstGeom prst="rect">
            <a:avLst/>
          </a:prstGeom>
          <a:solidFill>
            <a:srgbClr val="FB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584448"/>
            <a:ext cx="31089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D427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" y="3557016"/>
            <a:ext cx="7680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信頼・継続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" y="3785616"/>
            <a:ext cx="7680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クライアント満足、継続・更新につながる動き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197096"/>
            <a:ext cx="310896" cy="310896"/>
          </a:xfrm>
          <a:prstGeom prst="rect">
            <a:avLst/>
          </a:prstGeom>
          <a:solidFill>
            <a:srgbClr val="FB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187952"/>
            <a:ext cx="31089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D427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" y="4160520"/>
            <a:ext cx="7680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チーム貢献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" y="4389120"/>
            <a:ext cx="7680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連携・後輩サポート・雰囲気づくり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D42727"/>
                </a:solidFill>
                <a:latin typeface="Arial"/>
                <a:ea typeface="Arial"/>
                <a:cs typeface="Arial"/>
              </a:rPr>
              <a:t>Compensation 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8046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契約期間と報酬見直しのサイクル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25296"/>
            <a:ext cx="457200" cy="41148"/>
          </a:xfrm>
          <a:prstGeom prst="rect">
            <a:avLst/>
          </a:prstGeom>
          <a:solidFill>
            <a:srgbClr val="D42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60" y="4864608"/>
            <a:ext cx="731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99999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329184" cy="329184"/>
          </a:xfrm>
          <a:prstGeom prst="rect">
            <a:avLst/>
          </a:prstGeom>
          <a:solidFill>
            <a:srgbClr val="FB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32918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D427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481328"/>
            <a:ext cx="4114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契約期間：6ヶ月（自動更新）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792224"/>
            <a:ext cx="4114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6ヶ月ごとに条件を見直し、申し出がなければ同一条件で自動更新。やめる場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988819"/>
            <a:ext cx="4114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合は満了の1ヶ月前までにご連絡を。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97480"/>
            <a:ext cx="329184" cy="329184"/>
          </a:xfrm>
          <a:prstGeom prst="rect">
            <a:avLst/>
          </a:prstGeom>
          <a:solidFill>
            <a:srgbClr val="FB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97480"/>
            <a:ext cx="32918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D427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670048"/>
            <a:ext cx="4114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3ヶ月ごとに状況確認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980944"/>
            <a:ext cx="4114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中間タイミングで業務状況を確認。必要があれば条件変更の協議ができます。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749039"/>
            <a:ext cx="329184" cy="329184"/>
          </a:xfrm>
          <a:prstGeom prst="rect">
            <a:avLst/>
          </a:prstGeom>
          <a:solidFill>
            <a:srgbClr val="FB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749039"/>
            <a:ext cx="32918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D427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721607"/>
            <a:ext cx="4114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個別対話で決定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032503"/>
            <a:ext cx="4114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一律ではなく、担当案件・役割・貢献度を踏まえて話し合います。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94960" y="1463040"/>
            <a:ext cx="3200400" cy="2395728"/>
          </a:xfrm>
          <a:prstGeom prst="rect">
            <a:avLst/>
          </a:prstGeom>
          <a:solidFill>
            <a:srgbClr val="FB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32120" y="1572768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999999"/>
                </a:solidFill>
                <a:latin typeface="Arial"/>
                <a:ea typeface="Arial"/>
                <a:cs typeface="Arial"/>
              </a:rPr>
              <a:t>CYCLE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1865376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契約締結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D42727"/>
                </a:solidFill>
                <a:latin typeface="Arial"/>
                <a:ea typeface="Arial"/>
                <a:cs typeface="Arial"/>
              </a:rPr>
              <a:t>↓ 3ヶ月後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中間確認MTG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D42727"/>
                </a:solidFill>
                <a:latin typeface="Arial"/>
                <a:ea typeface="Arial"/>
                <a:cs typeface="Arial"/>
              </a:rPr>
              <a:t>↓ 6ヶ月後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評価・報酬協議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D42727"/>
                </a:solidFill>
                <a:latin typeface="Arial"/>
                <a:ea typeface="Arial"/>
                <a:cs typeface="Arial"/>
              </a:rPr>
              <a:t>↓ 再契約・条件更新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D42727"/>
                </a:solidFill>
                <a:latin typeface="Arial"/>
                <a:ea typeface="Arial"/>
                <a:cs typeface="Arial"/>
              </a:rPr>
              <a:t>↓ 申し出なければ自動更新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94960" y="3995928"/>
            <a:ext cx="3200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0" y="4105656"/>
            <a:ext cx="2971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「査定されている」ではなく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「一緒に振り返っている」感覚です。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D42727"/>
                </a:solidFill>
                <a:latin typeface="Arial"/>
                <a:ea typeface="Arial"/>
                <a:cs typeface="Arial"/>
              </a:rPr>
              <a:t>Rate Standards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8046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単価・報酬が上がる基準（例）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25296"/>
            <a:ext cx="457200" cy="41148"/>
          </a:xfrm>
          <a:prstGeom prst="rect">
            <a:avLst/>
          </a:prstGeom>
          <a:solidFill>
            <a:srgbClr val="D42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60" y="4864608"/>
            <a:ext cx="731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99999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79552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「年功」ではなく、お客様への価値と役割の広がりで上がります。"満たせば上がる"。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310896" cy="310896"/>
          </a:xfrm>
          <a:prstGeom prst="rect">
            <a:avLst/>
          </a:prstGeom>
          <a:solidFill>
            <a:srgbClr val="FB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73936"/>
            <a:ext cx="31089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D427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1746504"/>
            <a:ext cx="4297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継続・信頼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1975104"/>
            <a:ext cx="4297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担当クライアントが継続更新／満足度が高い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59736"/>
            <a:ext cx="310896" cy="310896"/>
          </a:xfrm>
          <a:prstGeom prst="rect">
            <a:avLst/>
          </a:prstGeom>
          <a:solidFill>
            <a:srgbClr val="FB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450592"/>
            <a:ext cx="31089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D427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423160"/>
            <a:ext cx="4297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成果への貢献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2651760"/>
            <a:ext cx="4297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数値改善・問い合わせ・成約への寄与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136391"/>
            <a:ext cx="310896" cy="310896"/>
          </a:xfrm>
          <a:prstGeom prst="rect">
            <a:avLst/>
          </a:prstGeom>
          <a:solidFill>
            <a:srgbClr val="FB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127248"/>
            <a:ext cx="31089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D427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3099815"/>
            <a:ext cx="4297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役割の拡大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" y="3328415"/>
            <a:ext cx="4297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制作→構成提案→分析、ディレクション等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813048"/>
            <a:ext cx="310896" cy="310896"/>
          </a:xfrm>
          <a:prstGeom prst="rect">
            <a:avLst/>
          </a:prstGeom>
          <a:solidFill>
            <a:srgbClr val="FB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803904"/>
            <a:ext cx="31089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D427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" y="3776472"/>
            <a:ext cx="4297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スキル・品質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" y="4005072"/>
            <a:ext cx="4297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提案力・品質・対応スピード・再依頼率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94960" y="1463040"/>
            <a:ext cx="3200400" cy="3154680"/>
          </a:xfrm>
          <a:prstGeom prst="rect">
            <a:avLst/>
          </a:prstGeom>
          <a:solidFill>
            <a:srgbClr val="FB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32120" y="1572768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999999"/>
                </a:solidFill>
                <a:latin typeface="Arial"/>
                <a:ea typeface="Arial"/>
                <a:cs typeface="Arial"/>
              </a:rPr>
              <a:t>EXAMPLES（※実額は協議）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1938528"/>
            <a:ext cx="2971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・継続：6ヶ月継続＋更新で +10〜20%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2240280"/>
            <a:ext cx="2971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・役割拡大：分析まで担当 → 役割手当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2542032"/>
            <a:ext cx="2971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・成果：継続率・問合せ増 → 単価反映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2843784"/>
            <a:ext cx="2971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・チーム貢献：新人育成 → 手当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2120" y="3145536"/>
            <a:ext cx="2971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・緊急/追加：通常費の10〜30%割増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2120" y="3493008"/>
            <a:ext cx="2971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タイミング：3ヶ月で兆し共有 → 6ヶ月で反映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3813048"/>
            <a:ext cx="2971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D42727"/>
                </a:solidFill>
                <a:latin typeface="Arial"/>
                <a:ea typeface="Arial"/>
                <a:cs typeface="Arial"/>
              </a:rPr>
              <a:t>上がる条件を先に共有する。それが透明性です。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D42727"/>
                </a:solidFill>
                <a:latin typeface="Arial"/>
                <a:ea typeface="Arial"/>
                <a:cs typeface="Arial"/>
              </a:rPr>
              <a:t>About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8046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数値指標について、正直に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25296"/>
            <a:ext cx="457200" cy="41148"/>
          </a:xfrm>
          <a:prstGeom prst="rect">
            <a:avLst/>
          </a:prstGeom>
          <a:solidFill>
            <a:srgbClr val="D42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60" y="4864608"/>
            <a:ext cx="731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99999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79552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SNSやデザイン以外の要因も数値に大きく影響します。数字はあくまで「参考」です。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3886200" cy="2468880"/>
          </a:xfrm>
          <a:prstGeom prst="rect">
            <a:avLst/>
          </a:prstGeom>
          <a:solidFill>
            <a:srgbClr val="FB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3474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D42727"/>
                </a:solidFill>
                <a:latin typeface="Arial"/>
                <a:ea typeface="Arial"/>
                <a:cs typeface="Arial"/>
              </a:rPr>
              <a:t>共有できる指標（参考）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3474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・インプレッション数・リーチ数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15184"/>
            <a:ext cx="3474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・フォロワー増加数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44368"/>
            <a:ext cx="3474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・エンゲージメント率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73552"/>
            <a:ext cx="3474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・問い合わせ数（確認できる場合）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02736"/>
            <a:ext cx="3474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・リピート率・継続率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60" y="1783080"/>
            <a:ext cx="38862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0" y="1920240"/>
            <a:ext cx="3474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数値化しにくいもの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286000"/>
            <a:ext cx="3474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・クライアントの信頼・満足感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615184"/>
            <a:ext cx="3474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・デザインの質・センス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944368"/>
            <a:ext cx="3474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・提案が実現につながった経緯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3273552"/>
            <a:ext cx="3474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・チームへの影響・雰囲気づくり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3602736"/>
            <a:ext cx="3474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・急な対応・細かな気配り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434840"/>
            <a:ext cx="8046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数値は目標設定と振り返りのツール。「なぜそうなったか」を一緒に考えることを大切にします。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D42727"/>
                </a:solidFill>
                <a:latin typeface="Arial"/>
                <a:ea typeface="Arial"/>
                <a:cs typeface="Arial"/>
              </a:rPr>
              <a:t>Work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8046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働き方のルール整備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25296"/>
            <a:ext cx="457200" cy="41148"/>
          </a:xfrm>
          <a:prstGeom prst="rect">
            <a:avLst/>
          </a:prstGeom>
          <a:solidFill>
            <a:srgbClr val="D42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60" y="4864608"/>
            <a:ext cx="731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99999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8046720" cy="960120"/>
          </a:xfrm>
          <a:prstGeom prst="rect">
            <a:avLst/>
          </a:prstGeom>
          <a:solidFill>
            <a:srgbClr val="FB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7589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D42727"/>
                </a:solidFill>
                <a:latin typeface="Arial"/>
                <a:ea typeface="Arial"/>
                <a:cs typeface="Arial"/>
              </a:rPr>
              <a:t>SNS緊急告知（満席・臨時休業など）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7589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SNS運用委託の範囲内で対応します。急ぎが難しい場合は事前にご連絡を。こちらで対応することもあります。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51760"/>
            <a:ext cx="80467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770632"/>
            <a:ext cx="7589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D42727"/>
                </a:solidFill>
                <a:latin typeface="Arial"/>
                <a:ea typeface="Arial"/>
                <a:cs typeface="Arial"/>
              </a:rPr>
              <a:t>デザイン緊急対応費（通常納期の半分以下）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63240"/>
            <a:ext cx="7589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通常費用の10〜30%割増を目安に加算。具体的な算定基準は事前に明確化して対応します。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749039"/>
            <a:ext cx="8046720" cy="960120"/>
          </a:xfrm>
          <a:prstGeom prst="rect">
            <a:avLst/>
          </a:prstGeom>
          <a:solidFill>
            <a:srgbClr val="FB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867911"/>
            <a:ext cx="7589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D42727"/>
                </a:solidFill>
                <a:latin typeface="Arial"/>
                <a:ea typeface="Arial"/>
                <a:cs typeface="Arial"/>
              </a:rPr>
              <a:t>実績の利用（ポートフォリオ・商談資料）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60520"/>
            <a:ext cx="7589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個別商談・クローズドな実績紹介は自由に。SNS・公開掲載はクライアント保護のため事前にご相談ください。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D42727"/>
                </a:solidFill>
                <a:latin typeface="Arial"/>
                <a:ea typeface="Arial"/>
                <a:cs typeface="Arial"/>
              </a:rPr>
              <a:t>Responsibility &amp;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8046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責任範囲と免責の進め方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25296"/>
            <a:ext cx="457200" cy="41148"/>
          </a:xfrm>
          <a:prstGeom prst="rect">
            <a:avLst/>
          </a:prstGeom>
          <a:solidFill>
            <a:srgbClr val="D42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60" y="4864608"/>
            <a:ext cx="731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99999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329184" cy="329184"/>
          </a:xfrm>
          <a:prstGeom prst="rect">
            <a:avLst/>
          </a:prstGeom>
          <a:solidFill>
            <a:srgbClr val="FB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32918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D427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481328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二段階で締結する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792224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①責任範囲を業務委託契約書に整理 → ②免責事項の修正版を共有し、一緒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988819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に確認のうえ締結。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06040"/>
            <a:ext cx="329184" cy="329184"/>
          </a:xfrm>
          <a:prstGeom prst="rect">
            <a:avLst/>
          </a:prstGeom>
          <a:solidFill>
            <a:srgbClr val="FB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06040"/>
            <a:ext cx="32918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D427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578608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最終確認は発注者（hicre）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889504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投稿・公開・権利・効果効能表現の最終承認はhicre。皆さんは指示・承認に基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086100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づく制作・投稿補助を担当。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703320"/>
            <a:ext cx="329184" cy="329184"/>
          </a:xfrm>
          <a:prstGeom prst="rect">
            <a:avLst/>
          </a:prstGeom>
          <a:solidFill>
            <a:srgbClr val="FB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703320"/>
            <a:ext cx="32918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D427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675887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リスクは事前共有・記録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986783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法令／規約／権利／炎上の懸念は事前に確認・指摘し記録。指摘後の指示は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183379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発注者が責任を負います。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94960" y="1463040"/>
            <a:ext cx="3200400" cy="2514600"/>
          </a:xfrm>
          <a:prstGeom prst="rect">
            <a:avLst/>
          </a:prstGeom>
          <a:solidFill>
            <a:srgbClr val="FB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32120" y="1572768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999999"/>
                </a:solidFill>
                <a:latin typeface="Arial"/>
                <a:ea typeface="Arial"/>
                <a:cs typeface="Arial"/>
              </a:rPr>
              <a:t>COVERAGE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1901952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D42727"/>
                </a:solidFill>
                <a:latin typeface="Arial"/>
                <a:ea typeface="Arial"/>
                <a:cs typeface="Arial"/>
              </a:rPr>
              <a:t>皆さんが責任を負わない（例）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・提供素材／情報の誤り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・承認後に公開された内容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・仕様／規約変更・成果（数値）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皆さんが責任を負う（例）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・故意／重過失、虚偽の制作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・承認と明らかに異なる制作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賠償上限：当該業務の報酬額まで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94960" y="4069080"/>
            <a:ext cx="3200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32120" y="4160520"/>
            <a:ext cx="2971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責任の線引きを明確にして、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安心して制作に集中できるように。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D42727"/>
                </a:solidFill>
                <a:latin typeface="Arial"/>
                <a:ea typeface="Arial"/>
                <a:cs typeface="Arial"/>
              </a:rPr>
              <a:t>Our Philosophy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8046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hicreが大切にしていること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25296"/>
            <a:ext cx="457200" cy="41148"/>
          </a:xfrm>
          <a:prstGeom prst="rect">
            <a:avLst/>
          </a:prstGeom>
          <a:solidFill>
            <a:srgbClr val="D42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60" y="4864608"/>
            <a:ext cx="731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99999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8046720" cy="868680"/>
          </a:xfrm>
          <a:prstGeom prst="rect">
            <a:avLst/>
          </a:prstGeom>
          <a:solidFill>
            <a:srgbClr val="FB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91056"/>
            <a:ext cx="7589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「利他の心で仕事をする人には、自然と周りから信頼が集まり、事業は着実に成長していく。」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38528"/>
            <a:ext cx="7589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999999"/>
                </a:solidFill>
                <a:latin typeface="Arial"/>
                <a:ea typeface="Arial"/>
                <a:cs typeface="Arial"/>
              </a:rPr>
              <a:t>— 稲盛和夫の哲学に学ぶ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06040"/>
            <a:ext cx="329184" cy="329184"/>
          </a:xfrm>
          <a:prstGeom prst="rect">
            <a:avLst/>
          </a:prstGeom>
          <a:solidFill>
            <a:srgbClr val="FB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06040"/>
            <a:ext cx="32918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D427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78608"/>
            <a:ext cx="7772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まずお客様に喜んでいただく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889504"/>
            <a:ext cx="7772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信頼の積み重ねが、継続的な単価向上・報酬改善の土台になります。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355848"/>
            <a:ext cx="329184" cy="329184"/>
          </a:xfrm>
          <a:prstGeom prst="rect">
            <a:avLst/>
          </a:prstGeom>
          <a:solidFill>
            <a:srgbClr val="FB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355848"/>
            <a:ext cx="32918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D427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328416"/>
            <a:ext cx="7772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安定してから、広げる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639312"/>
            <a:ext cx="7772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まず案件を安定継続できる体制を整えること。それが最優先です。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105656"/>
            <a:ext cx="329184" cy="329184"/>
          </a:xfrm>
          <a:prstGeom prst="rect">
            <a:avLst/>
          </a:prstGeom>
          <a:solidFill>
            <a:srgbClr val="FB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105656"/>
            <a:ext cx="32918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D427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078224"/>
            <a:ext cx="7772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成長を楽しむ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389120"/>
            <a:ext cx="7772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スキルが上がればデザインの幅も増え、収入も上がる。そういうチームに。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D42727"/>
                </a:solidFill>
                <a:latin typeface="Arial"/>
                <a:ea typeface="Arial"/>
                <a:cs typeface="Arial"/>
              </a:rPr>
              <a:t>Message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「心を高めれば、経営は伸びる。」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99999"/>
                </a:solidFill>
                <a:latin typeface="Arial"/>
                <a:ea typeface="Arial"/>
                <a:cs typeface="Arial"/>
              </a:rPr>
              <a:t>— 稲盛和夫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2057400"/>
            <a:ext cx="640080" cy="45720"/>
          </a:xfrm>
          <a:prstGeom prst="rect">
            <a:avLst/>
          </a:prstGeom>
          <a:solidFill>
            <a:srgbClr val="D42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79552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技術や数字は、後からいくらでも伸ばせます。でも、その土台になるのは「人としての信頼」です。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79"/>
            <a:ext cx="79552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お客様に誠実に向き合い、仲間を思いやり、目の前の一つひとつの仕事に心を込める。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63239"/>
            <a:ext cx="79552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その積み重ねが、いつか必ず形になって返ってきます。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28999"/>
            <a:ext cx="79552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私は、皆さんの成長や努力を一番近くで見ています。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94759"/>
            <a:ext cx="79552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だからこそ、安心してこのチームで挑戦し、成長していってください。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4864608"/>
            <a:ext cx="731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99999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66344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hicre design studio  /  榊原匡清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